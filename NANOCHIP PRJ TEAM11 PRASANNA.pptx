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57" r:id="rId4"/>
    <p:sldId id="258" r:id="rId5"/>
    <p:sldId id="259" r:id="rId6"/>
    <p:sldId id="272" r:id="rId7"/>
    <p:sldId id="273" r:id="rId8"/>
    <p:sldId id="260" r:id="rId9"/>
    <p:sldId id="261" r:id="rId10"/>
    <p:sldId id="262" r:id="rId11"/>
    <p:sldId id="271" r:id="rId12"/>
    <p:sldId id="263" r:id="rId13"/>
    <p:sldId id="267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10DF1-8766-4CCD-BBFF-D5B47C3B30B7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F795D-6269-4516-B9CF-74C9F6FD2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97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0C9A05-A41B-15B4-27A4-443A0BDF0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903886" cy="1515533"/>
          </a:xfrm>
        </p:spPr>
        <p:txBody>
          <a:bodyPr/>
          <a:lstStyle/>
          <a:p>
            <a:r>
              <a:rPr lang="en-IN" dirty="0"/>
              <a:t>NANOCHIP MINI PROJECT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33DE05-C39B-A811-6EEE-5B6691A61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IoT system integration &amp; SV for RTL Verification</a:t>
            </a:r>
          </a:p>
          <a:p>
            <a:r>
              <a:rPr lang="en-US" dirty="0"/>
              <a:t>Design and Implementation of a Cloud-Connected</a:t>
            </a:r>
            <a:br>
              <a:rPr lang="en-US" dirty="0"/>
            </a:br>
            <a:r>
              <a:rPr lang="en-US" dirty="0"/>
              <a:t>Real-Time Smart Irrigation with Soil-Stress Detection</a:t>
            </a:r>
            <a:endParaRPr lang="en-IN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E16F4-8431-00A2-9DC2-C13687B2E2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57" b="1182"/>
          <a:stretch>
            <a:fillRect/>
          </a:stretch>
        </p:blipFill>
        <p:spPr>
          <a:xfrm>
            <a:off x="157317" y="210394"/>
            <a:ext cx="3156154" cy="9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6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61E0-2ED2-1AF6-73F9-278134CF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82132"/>
            <a:ext cx="9431593" cy="181516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 Cloud-Connected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Smart Irrigation with Soil-Stress Detection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F2454-5260-FD43-4A46-701F03D1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TEAM-11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3A4DA5-DF5E-EFC0-5A03-A35765278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1" y="3177482"/>
            <a:ext cx="7285704" cy="238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D792-C212-E96C-78DC-984A47F2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0CF4E-87F9-FEBF-6086-7B846E6AB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irrigation systems rely on manual scheduling and fixed watering intervals, leading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wastage and inefficient crop growth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changing soil conditions and climate variations, farmers lack real-time data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and plant stress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causing over-irrigation or under-irrigation.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intelligent irrigation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detects soil stress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controls water 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actual field conditions using IoT and cloud analytics.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32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06B2-9CA3-6146-020A-46E45FF02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	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4DDC827-EB46-A692-20A7-2571A2455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823" y="2852873"/>
            <a:ext cx="980881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irrigation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automatically controls valves based on soil stress conditions.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achieve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soil parameters such as moisture, temperature, and humidity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ESP32 and LoRa communication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edge-based threshold 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local decision-making with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1–5 second latency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critical responses.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connectivity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data storage, visualization, and advanced analytics.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OTA (Over-the-Air)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firmware updates for remote system maintenance.</a:t>
            </a:r>
          </a:p>
        </p:txBody>
      </p:sp>
    </p:spTree>
    <p:extLst>
      <p:ext uri="{BB962C8B-B14F-4D97-AF65-F5344CB8AC3E}">
        <p14:creationId xmlns:p14="http://schemas.microsoft.com/office/powerpoint/2010/main" val="1340241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44D992-E084-6ED7-9888-995983482A78}"/>
              </a:ext>
            </a:extLst>
          </p:cNvPr>
          <p:cNvSpPr txBox="1"/>
          <p:nvPr/>
        </p:nvSpPr>
        <p:spPr>
          <a:xfrm>
            <a:off x="747252" y="776748"/>
            <a:ext cx="10235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0D438-8DD4-A28A-736A-1842A87FA198}"/>
              </a:ext>
            </a:extLst>
          </p:cNvPr>
          <p:cNvSpPr txBox="1"/>
          <p:nvPr/>
        </p:nvSpPr>
        <p:spPr>
          <a:xfrm>
            <a:off x="855406" y="834046"/>
            <a:ext cx="1048118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irrigation tasks to reduce manual labour, especially in large-scale farming or landscape maintenance.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eco-friendly practices by reducing water runoff, minimizing erosion, and conserving water resources.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irrigation system to optimize energy use, avoiding unnecessary pumping and minimizing power consumption.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plants, crops, or landscapes that receives optimal water for growth, improving yields and maintaining plant health.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main goal for irrigation is “ to provide plants with proper amount of water at the best time” 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21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44A6-FD6A-8999-95C4-58919BDC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REVIEW/BACKGROUND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F9265-CEEE-16F0-2FE3-F905930B7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IoT-based irrigation systems have been developed to automate water supply, primarily using Wi-Fi or GSM networks. However, these approaches face challenges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range, high latency, and network dependency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studies highlight the importance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and LoRa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agricultural IoT applications due to their low power consumption and wide coverage.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 often focus on soil moisture sensing alone, but few integrate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soil-stress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decision-making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intelligence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for scalable deployment.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these gaps by combining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ESP32-LoRa edge nodes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analytics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achieve efficient, data-driven irrigation.</a:t>
            </a:r>
          </a:p>
        </p:txBody>
      </p:sp>
    </p:spTree>
    <p:extLst>
      <p:ext uri="{BB962C8B-B14F-4D97-AF65-F5344CB8AC3E}">
        <p14:creationId xmlns:p14="http://schemas.microsoft.com/office/powerpoint/2010/main" val="3694878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C612-1024-9442-F76B-5653BDC2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597B2-ED19-6D0F-E7AF-F102A63F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280F86-BBD8-DAF2-C71C-2C54DADFB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0" y="3400792"/>
            <a:ext cx="998219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 smart irrigation system capable of automatic soil-stress detection and water control.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interface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 and analytics.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usage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intelligent decision-making.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IoT network using LoRa and cloud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304741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B189-89BE-8B5D-BC65-6389B14FB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7031-0910-7E49-BF1E-96658C2D6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/>
          </a:p>
          <a:p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1DBB98-D5A0-035E-DE4B-6C255AF4C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583" y="2833931"/>
            <a:ext cx="103196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Setup: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ESP32 microcontroller as edge node integrated with soil moisture, temperature, and humidity sensors.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LoRa modules for long-range, low-power data transmission.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Processing: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threshold-based decision logic for real-time actuation.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Integration: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 sensor data to a cloud platform (e.g., AWS IoT,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ThingSpeak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Firebase) via LoRa gateway.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41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864499-6D8B-C2BA-3FC4-DB3332B54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987" y="1380243"/>
            <a:ext cx="9753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Enable data analytics and visualization dashboards.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Trigger irrigation valves automatically when soil moisture drops below preset levels.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OTA Updates: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firmware update functionality remotely through a secure OTA mechanism.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&amp;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latency, water efficiency, and reliability under various field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662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242CB-01FD-5244-1BFB-0FC8C7345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944" y="1365591"/>
            <a:ext cx="9601196" cy="915494"/>
          </a:xfrm>
        </p:spPr>
        <p:txBody>
          <a:bodyPr/>
          <a:lstStyle/>
          <a:p>
            <a:r>
              <a:rPr lang="en-IN" b="1" dirty="0"/>
              <a:t>APPLICATIONS/SCOPE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E9B349-3DBA-466B-5830-7D98B0ACED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1213" y="3557955"/>
            <a:ext cx="1066423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Agriculture: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Efficient irrigation management for farms and greenhouses.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Horticulture: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Smart watering of gardens and landscapes.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Conservation: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over-irrigation and promotes sustainable farming.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expanded for large-scale smart farming with multiple zones.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 Relevance: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 the development of precision agriculture and IoT-based automation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165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00BD-599D-8F84-7295-64350D49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A849-E031-0A34-C33F-7B9E9BEE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RESOURCE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ED2C0-CABF-D9A4-4F68-CC5F1D1E4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10021528" cy="331893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ESP32, LoRa modules (SX1278), Soil Moisture Sensor, DHT11/DHT22 Sensor, Solenoid Valve, Relay Module, Power Supply, Buzzer, Jumper Wires.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Firebase / AWS IoT Core, Python for analytics, OTA firmware tools.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Requirements: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connectivity, Cloud subscription (free tier), Testing setup (plants or soil beds).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269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C740-4831-8866-A6C8-416F8EF7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CIRCUIT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1F3ADE-8473-38B5-F273-8A39B6BE5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0038" y="2632741"/>
            <a:ext cx="4925962" cy="3319462"/>
          </a:xfrm>
        </p:spPr>
      </p:pic>
      <p:pic>
        <p:nvPicPr>
          <p:cNvPr id="6" name="Content Placeholder 10">
            <a:extLst>
              <a:ext uri="{FF2B5EF4-FFF2-40B4-BE49-F238E27FC236}">
                <a16:creationId xmlns:a16="http://schemas.microsoft.com/office/drawing/2014/main" id="{B4B44404-8577-BE51-2915-424C744D4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79" b="26836"/>
          <a:stretch>
            <a:fillRect/>
          </a:stretch>
        </p:blipFill>
        <p:spPr>
          <a:xfrm>
            <a:off x="6096001" y="2632741"/>
            <a:ext cx="4925962" cy="331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82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F541F-1749-7A44-19E6-772844A87418}"/>
              </a:ext>
            </a:extLst>
          </p:cNvPr>
          <p:cNvSpPr txBox="1"/>
          <p:nvPr/>
        </p:nvSpPr>
        <p:spPr>
          <a:xfrm>
            <a:off x="934065" y="835741"/>
            <a:ext cx="4345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PROJECT TIMELINE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C0103B-EC20-2783-A53F-00F6D6E1D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403439"/>
              </p:ext>
            </p:extLst>
          </p:nvPr>
        </p:nvGraphicFramePr>
        <p:xfrm>
          <a:off x="1189702" y="1474841"/>
          <a:ext cx="10068234" cy="4395019"/>
        </p:xfrm>
        <a:graphic>
          <a:graphicData uri="http://schemas.openxmlformats.org/drawingml/2006/table">
            <a:tbl>
              <a:tblPr/>
              <a:tblGrid>
                <a:gridCol w="3356078">
                  <a:extLst>
                    <a:ext uri="{9D8B030D-6E8A-4147-A177-3AD203B41FA5}">
                      <a16:colId xmlns:a16="http://schemas.microsoft.com/office/drawing/2014/main" val="3260629606"/>
                    </a:ext>
                  </a:extLst>
                </a:gridCol>
                <a:gridCol w="3356078">
                  <a:extLst>
                    <a:ext uri="{9D8B030D-6E8A-4147-A177-3AD203B41FA5}">
                      <a16:colId xmlns:a16="http://schemas.microsoft.com/office/drawing/2014/main" val="366716272"/>
                    </a:ext>
                  </a:extLst>
                </a:gridCol>
                <a:gridCol w="3356078">
                  <a:extLst>
                    <a:ext uri="{9D8B030D-6E8A-4147-A177-3AD203B41FA5}">
                      <a16:colId xmlns:a16="http://schemas.microsoft.com/office/drawing/2014/main" val="892634004"/>
                    </a:ext>
                  </a:extLst>
                </a:gridCol>
              </a:tblGrid>
              <a:tr h="439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188963"/>
                  </a:ext>
                </a:extLst>
              </a:tr>
              <a:tr h="769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&amp; Problem Definition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167756"/>
                  </a:ext>
                </a:extLst>
              </a:tr>
              <a:tr h="769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Design &amp; Sensor Integration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184161"/>
                  </a:ext>
                </a:extLst>
              </a:tr>
              <a:tr h="769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Communication &amp; Edge Logic Implementation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219348"/>
                  </a:ext>
                </a:extLst>
              </a:tr>
              <a:tr h="439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4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Integration &amp; OTA Setup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368227"/>
                  </a:ext>
                </a:extLst>
              </a:tr>
              <a:tr h="769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5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Testing, Data Analysis &amp; Final Optimization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63281"/>
                  </a:ext>
                </a:extLst>
              </a:tr>
              <a:tr h="439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Duration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 weeks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93795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981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36EC9-598D-D575-001B-7B58AE15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98B31E-9FA6-C27A-83BB-B09A6A0E4C0C}"/>
              </a:ext>
            </a:extLst>
          </p:cNvPr>
          <p:cNvSpPr txBox="1"/>
          <p:nvPr/>
        </p:nvSpPr>
        <p:spPr>
          <a:xfrm>
            <a:off x="934065" y="835741"/>
            <a:ext cx="4345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REFERENCES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378A4-128C-577C-2824-2FEC3FB4C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092713"/>
              </p:ext>
            </p:extLst>
          </p:nvPr>
        </p:nvGraphicFramePr>
        <p:xfrm>
          <a:off x="1081548" y="1297406"/>
          <a:ext cx="10284542" cy="5315501"/>
        </p:xfrm>
        <a:graphic>
          <a:graphicData uri="http://schemas.openxmlformats.org/drawingml/2006/table">
            <a:tbl>
              <a:tblPr/>
              <a:tblGrid>
                <a:gridCol w="260130">
                  <a:extLst>
                    <a:ext uri="{9D8B030D-6E8A-4147-A177-3AD203B41FA5}">
                      <a16:colId xmlns:a16="http://schemas.microsoft.com/office/drawing/2014/main" val="3260629606"/>
                    </a:ext>
                  </a:extLst>
                </a:gridCol>
                <a:gridCol w="6618225">
                  <a:extLst>
                    <a:ext uri="{9D8B030D-6E8A-4147-A177-3AD203B41FA5}">
                      <a16:colId xmlns:a16="http://schemas.microsoft.com/office/drawing/2014/main" val="366716272"/>
                    </a:ext>
                  </a:extLst>
                </a:gridCol>
                <a:gridCol w="3406187">
                  <a:extLst>
                    <a:ext uri="{9D8B030D-6E8A-4147-A177-3AD203B41FA5}">
                      <a16:colId xmlns:a16="http://schemas.microsoft.com/office/drawing/2014/main" val="892634004"/>
                    </a:ext>
                  </a:extLst>
                </a:gridCol>
              </a:tblGrid>
              <a:tr h="31065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188963"/>
                  </a:ext>
                </a:extLst>
              </a:tr>
              <a:tr h="543639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167756"/>
                  </a:ext>
                </a:extLst>
              </a:tr>
              <a:tr h="1703851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Paper: “IoT-Based Smart Irrigation System Using LoRa and Cloud Computing,”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2023.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ThingSpeak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IoT Cloud Documentation.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Espressif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Systems – ESP32 Technical Reference Manual.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IoT Core Developer Guide.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GitHub repositories and open-source IoT frameworks for smart agriculture.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184161"/>
                  </a:ext>
                </a:extLst>
              </a:tr>
              <a:tr h="543639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fr-F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219348"/>
                  </a:ext>
                </a:extLst>
              </a:tr>
              <a:tr h="31065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368227"/>
                  </a:ext>
                </a:extLst>
              </a:tr>
              <a:tr h="543639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63281"/>
                  </a:ext>
                </a:extLst>
              </a:tr>
              <a:tr h="31065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947" marR="82947" marT="41473" marB="41473"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93795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751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592B92-5F3D-D1CA-872A-64EAE3960E48}"/>
              </a:ext>
            </a:extLst>
          </p:cNvPr>
          <p:cNvSpPr txBox="1"/>
          <p:nvPr/>
        </p:nvSpPr>
        <p:spPr>
          <a:xfrm>
            <a:off x="2172929" y="2448231"/>
            <a:ext cx="81411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25491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692</TotalTime>
  <Words>834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Garamond</vt:lpstr>
      <vt:lpstr>Times New Roman</vt:lpstr>
      <vt:lpstr>Wingdings</vt:lpstr>
      <vt:lpstr>Organic</vt:lpstr>
      <vt:lpstr>NANOCHIP MINI PROJECT</vt:lpstr>
      <vt:lpstr>Design and Implementation of a Cloud-Connected Real-Time Smart Irrigation with Soil-Stress Detection </vt:lpstr>
      <vt:lpstr>PROBLEM STATEMENT</vt:lpstr>
      <vt:lpstr>OBJECTIVES </vt:lpstr>
      <vt:lpstr>PowerPoint Presentation</vt:lpstr>
      <vt:lpstr>LITERATURE REVIEW/BACKGROUND</vt:lpstr>
      <vt:lpstr>Expected Outcome</vt:lpstr>
      <vt:lpstr>Proposed Methodology</vt:lpstr>
      <vt:lpstr>PowerPoint Presentation</vt:lpstr>
      <vt:lpstr>APPLICATIONS/SCOPE</vt:lpstr>
      <vt:lpstr>RESOURCE REQUIRED</vt:lpstr>
      <vt:lpstr>CIRCUIT DIAGRAM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 Sai</dc:creator>
  <cp:lastModifiedBy>Admin</cp:lastModifiedBy>
  <cp:revision>3</cp:revision>
  <dcterms:created xsi:type="dcterms:W3CDTF">2024-09-25T09:31:32Z</dcterms:created>
  <dcterms:modified xsi:type="dcterms:W3CDTF">2025-10-22T18:34:06Z</dcterms:modified>
</cp:coreProperties>
</file>